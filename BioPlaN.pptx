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slide" Target="slides/slide43.xml"/><Relationship Id="rId25" Type="http://schemas.openxmlformats.org/officeDocument/2006/relationships/slide" Target="slides/slide20.xml"/><Relationship Id="rId47" Type="http://schemas.openxmlformats.org/officeDocument/2006/relationships/slide" Target="slides/slide42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c9a37ce59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c9a37ce59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87769058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87769058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87769058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87769058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PsychRNN: </a:t>
            </a:r>
            <a:r>
              <a:rPr lang="en"/>
              <a:t>it allows easy manipulation of task parameters and network noise to probe factors that affect behavioral performance and latent dynamics.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use a PerceptualDiscrimination (2AFC) task as a testbed to measure behavioral robustness (psychometric curves) and to visualize hidden-state trajectories, comparing baseline vs noisy RNNs and later attention-augmented models.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87769058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87769058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87769058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87769058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87769058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87769058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877690581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877690581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877690581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87769058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877690581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877690581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87769058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87769058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877690581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877690581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877690581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877690581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877690581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877690581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877690581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877690581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877690581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877690581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877690581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877690581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87769058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87769058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877690581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987769058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877690581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877690581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877690581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9877690581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87769058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987769058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Dale’s Law enforces biological sign constraints in the recurrent weights — excitatory neurons can only send positive outputs, inhibitory only negative. This reflects real cortical connectivity and can significantly alter learning dynamics.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c9a37ce59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c9a37ce59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c9a37ce59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c9a37ce59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c9a37ce59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ac9a37ce59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c9a37ce59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c9a37ce59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c9a37ce59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c9a37ce59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c9a37ce59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ac9a37ce59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c9a37ce59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ac9a37ce59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c9a37ce59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ac9a37ce59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3c84c34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a3c84c34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3c84c341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a3c84c341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3c84c341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a3c84c341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3c84c341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a3c84c341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3c84c341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3c84c341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3c84c341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3c84c341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3c84c341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a3c84c341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3c84c341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a3c84c341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3c84c341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a3c84c341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c9a37ce5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ac9a37ce5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c9a37ce59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ac9a37ce59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9877690581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9877690581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877690581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9877690581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rive.google.com/file/d/1iUy-574pAo1ejZG8c3tdMzsLIk_LkD9u/view?usp=shari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Harpreet287/INCM-course-projec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BioPlaN: Biologically Plausible Decision Making in RNNs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7971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Keerthi (2023122009)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Harpreet(2022101048)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3802000" y="4024700"/>
            <a:ext cx="27024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02000" y="4482400"/>
            <a:ext cx="16200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Video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Link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103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760175"/>
            <a:ext cx="8520600" cy="41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Aim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Introduction &amp; Literature Review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Methodologies</a:t>
            </a:r>
            <a:endParaRPr b="1"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2AFC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2AFC and DMS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Curriculum Learning (</a:t>
            </a:r>
            <a:r>
              <a:rPr b="1" i="1" lang="en" u="sng"/>
              <a:t>Mid ends here</a:t>
            </a:r>
            <a:r>
              <a:rPr lang="en"/>
              <a:t>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Dale’s Law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Dynamic Causal Perturbations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Adaptive Contrastive Gating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Causal Analysis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Adaptive Deliberate Replay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Ablation Studies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References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Aim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To enhance Recurrent Neural Networks (RNNs) by integrating biological mechanisms—specifically Dale’s Law, Adaptive Gating, and Memory Replay—and to validate how these features improve robust decision-making.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All code files have been made available at: </a:t>
            </a:r>
            <a:r>
              <a:rPr lang="e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here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RNNs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: Compact model of temporal neural computations underlying working memory and perceptual decision-making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PsychRNN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: A reproducible toolkit for training RNNs on cognitive tasks.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We enhance these networks with three key biological features: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Dale’s Law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: biologically realistic connectivity.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Adaptive Gating (ACG)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: to filter noise and separate decisions.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Deliberate Replay (ADR)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: to mimic how the hippocampus stores memories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RNNs &amp; cognition: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Elman (1990), Hochreiter &amp; Schmidhuber (1997) — RNNs / LSTMs model temporal dependencies and working memory.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Decision-making in neuroscience: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Gold &amp; Shadlen (2007) — evidence-accumulation models for perceptual decisions (2AFC).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Attention &amp; gating: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Bahdanau et al. (2015), Vaswani et al. (2017) — attention improves selective processing.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Toolkit: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Masse et al. (2019), PsychRNN –– A reproducible framework to run DMS/2AFC tasks and instrument RNNs for representational analysis.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We use synthetic trials generated by PsychRNN's Perceptual Discrimination.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On each trial the network receives noisy evidence for one of two choices across time.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No external dataset needed.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Method-1 2AFC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96612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Train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two versions of a recurrent neural network on the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Perceptual Discrimination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task using PsychRNN.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Baseline RNN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: no recurrent noise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Noisy RNN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: adds a small biological-like recurrent noise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Train both models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Compare training losses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Run psychometric sweeps for both models and plot psychometric curves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Visualize hidden-state dynamics (PCA) for one representative test trial from each model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Plots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20" title="Screen Shot 2025-11-03 at 10.57.1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3150" y="1152475"/>
            <a:ext cx="4465349" cy="352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Plots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1" title="Screen Shot 2025-11-03 at 10.57.42 PM.png"/>
          <p:cNvPicPr preferRelativeResize="0"/>
          <p:nvPr/>
        </p:nvPicPr>
        <p:blipFill rotWithShape="1">
          <a:blip r:embed="rId3">
            <a:alphaModFix/>
          </a:blip>
          <a:srcRect b="0" l="1516" r="0" t="0"/>
          <a:stretch/>
        </p:blipFill>
        <p:spPr>
          <a:xfrm>
            <a:off x="2795375" y="1152475"/>
            <a:ext cx="4237375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Plots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1471" y="1152475"/>
            <a:ext cx="4550830" cy="358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25" y="1114275"/>
            <a:ext cx="4337225" cy="349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34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Method-2 2AFC and DMS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Here we run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four separate RNN training experiments.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Namely,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Delayed and Perceptual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Discrimination,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with and without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noise.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Train both models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Compare training losses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Run psychometric sweeps for both models and plot psychometric curves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Visualize hidden-state dynamics (PCA) for one representative test trial from each 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650" y="1200500"/>
            <a:ext cx="7987075" cy="253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Plots</a:t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90613"/>
            <a:ext cx="4116275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5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52475"/>
            <a:ext cx="4238825" cy="306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Plots </a:t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6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30900"/>
            <a:ext cx="4260300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6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7300" y="898150"/>
            <a:ext cx="3714750" cy="3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Plots </a:t>
            </a:r>
            <a:endParaRPr/>
          </a:p>
        </p:txBody>
      </p:sp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7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260300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7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1550" y="1091775"/>
            <a:ext cx="3714750" cy="299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Plots </a:t>
            </a:r>
            <a:endParaRPr/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1152475"/>
            <a:ext cx="4260300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8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3675" y="1017725"/>
            <a:ext cx="3880000" cy="32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Plots </a:t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5525" y="1152475"/>
            <a:ext cx="5400675" cy="393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Method-3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Curriculum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Learning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We experiment three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training applied to the same cognitive task.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Basic Training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: No noise or step wise learning.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Adding a Noise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: Adding a little noise to attempt to improve generalization.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Curriculum (task shaping) Learning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: The network is first trained on easy trials. As the network reaches a performance threshold, the difficulty is increased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Plots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31" title="Screen Shot 2025-11-03 at 10.59.4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113" y="1152475"/>
            <a:ext cx="8048625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Plots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32" title="Screen Shot 2025-11-03 at 11.00.19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913" y="1152475"/>
            <a:ext cx="5114925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Plots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39725"/>
            <a:ext cx="9144000" cy="2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Incorporating Dale’s Law into the RNN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34"/>
          <p:cNvSpPr txBox="1"/>
          <p:nvPr>
            <p:ph idx="1" type="body"/>
          </p:nvPr>
        </p:nvSpPr>
        <p:spPr>
          <a:xfrm>
            <a:off x="311700" y="1152475"/>
            <a:ext cx="8520600" cy="34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Concept:</a:t>
            </a:r>
            <a:br>
              <a:rPr b="1" lang="en" sz="15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5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brain, neurons follow </a:t>
            </a:r>
            <a:r>
              <a:rPr i="1" lang="en" sz="15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Dale’s Law</a:t>
            </a:r>
            <a:r>
              <a:rPr lang="en" sz="15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each neuron is either </a:t>
            </a:r>
            <a:r>
              <a:rPr b="1" lang="en" sz="15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excitatory</a:t>
            </a:r>
            <a:r>
              <a:rPr lang="en" sz="15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1" lang="en" sz="15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inhibitory</a:t>
            </a:r>
            <a:r>
              <a:rPr lang="en" sz="15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never both.</a:t>
            </a:r>
            <a:br>
              <a:rPr lang="en" sz="15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5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RNNs violate this, as they allow positive and negative weights from the same unit. We force the network to follow rules that real biological brains follow.</a:t>
            </a:r>
            <a:endParaRPr sz="154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Setup</a:t>
            </a:r>
            <a:r>
              <a:rPr lang="en" sz="15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54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run </a:t>
            </a:r>
            <a:r>
              <a:rPr i="1" lang="en" sz="15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DalesRNN</a:t>
            </a:r>
            <a:r>
              <a:rPr lang="en" sz="15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3 different scenarios</a:t>
            </a:r>
            <a:endParaRPr sz="154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681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47"/>
              <a:buFont typeface="Times New Roman"/>
              <a:buAutoNum type="arabicPeriod"/>
            </a:pPr>
            <a:r>
              <a:rPr lang="en" sz="15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</a:t>
            </a:r>
            <a:endParaRPr sz="154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681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47"/>
              <a:buFont typeface="Times New Roman"/>
              <a:buAutoNum type="arabicPeriod"/>
            </a:pPr>
            <a:r>
              <a:rPr lang="en" sz="15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Noisy</a:t>
            </a:r>
            <a:endParaRPr sz="154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681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47"/>
              <a:buFont typeface="Times New Roman"/>
              <a:buAutoNum type="arabicPeriod"/>
            </a:pPr>
            <a:r>
              <a:rPr lang="en" sz="15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Curriculum Learning</a:t>
            </a:r>
            <a:endParaRPr sz="154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700088"/>
            <a:ext cx="7315200" cy="3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9300" y="700088"/>
            <a:ext cx="5105400" cy="3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Dynamic Causal Perturbations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Now that we have a trained our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brain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(RNN), we try to figure out how it solves the task.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We treat AI model like a lab rat: measuring which neurons are important and then "damaging" (lesioning) them to see if the AI forgets how to do the task.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250" y="309550"/>
            <a:ext cx="5962650" cy="45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Adaptive Contrastive Gating-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A New Way to Learn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We propose a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novel improvement to standard RNNs called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ACG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Our aim is to make the network learn faster and be more robust against noise.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It essentially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forces the network to organize its "thoughts" more clearly.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Gating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: The network learns to listen to important signals and not the noise.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Contrastive Loss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: This concept forces the AI to make the internal brain state for "Choice A" look as different as possible from "Choice B"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Attractor Dynamics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(Fixed Points): Prioritize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stability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. Once a decision is at a fixed point, it stays there.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40" title="Screen Shot 2025-12-02 at 12.52.09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6297" y="1017725"/>
            <a:ext cx="5668201" cy="412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Attractors analysis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0197"/>
            <a:ext cx="9144000" cy="2503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Robustness to Lesions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4" name="Google Shape;25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619" y="1017725"/>
            <a:ext cx="4946257" cy="379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60">
                <a:latin typeface="Times New Roman"/>
                <a:ea typeface="Times New Roman"/>
                <a:cs typeface="Times New Roman"/>
                <a:sym typeface="Times New Roman"/>
              </a:rPr>
              <a:t>Adaptive Deliberate Replay (ADR): A Novel PsychRNN Experiment</a:t>
            </a:r>
            <a:endParaRPr sz="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2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Working memory is usually modeled by persistent firing.</a:t>
            </a:r>
            <a:endParaRPr sz="20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2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Biological systems use selective replay (hippocampus &amp; PFC).</a:t>
            </a:r>
            <a:endParaRPr sz="20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2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PsychRNN lacks any replay-based WM mechanism.</a:t>
            </a:r>
            <a:endParaRPr sz="20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2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We introduce ADR: an adaptive replay controller.</a:t>
            </a:r>
            <a:endParaRPr sz="83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60">
                <a:latin typeface="Times New Roman"/>
                <a:ea typeface="Times New Roman"/>
                <a:cs typeface="Times New Roman"/>
                <a:sym typeface="Times New Roman"/>
              </a:rPr>
              <a:t>What is Adaptive Deliberate Replay (ADR)?</a:t>
            </a:r>
            <a:endParaRPr sz="14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44"/>
          <p:cNvSpPr txBox="1"/>
          <p:nvPr>
            <p:ph idx="1" type="body"/>
          </p:nvPr>
        </p:nvSpPr>
        <p:spPr>
          <a:xfrm>
            <a:off x="442175" y="1380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29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238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 trainable gating module p(t) controlling when to replay memory.</a:t>
            </a:r>
            <a:endParaRPr sz="238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238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 memory decoder reconstructs stimulus identity.</a:t>
            </a:r>
            <a:endParaRPr sz="238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238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Replay feedback strengthens hidden state only when beneficial.</a:t>
            </a:r>
            <a:endParaRPr sz="238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238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 replay penalty ensures sparse, strategic replay.</a:t>
            </a:r>
            <a:endParaRPr sz="238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29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59">
                <a:latin typeface="Times New Roman"/>
                <a:ea typeface="Times New Roman"/>
                <a:cs typeface="Times New Roman"/>
                <a:sym typeface="Times New Roman"/>
              </a:rPr>
              <a:t>ADR Architecture</a:t>
            </a:r>
            <a:endParaRPr sz="21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Hidden state h(t) from PsychRNN RNN.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Replay controller: p(t) = σ(Wₚ h(t)).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Memory decoder: m(t) = softmax(Wₘ h(t)).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Replay correction: h(t+1) += p(t) · W_fb · m(t).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Loss = Task + AuxDecode + λ·ReplayPenalty.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60"/>
              <a:t>Delayed Match-to-Sample (DMS) Task</a:t>
            </a:r>
            <a:endParaRPr sz="1620"/>
          </a:p>
        </p:txBody>
      </p:sp>
      <p:sp>
        <p:nvSpPr>
          <p:cNvPr id="278" name="Google Shape;278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Implemented using PsychRNN Task API.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Inputs: sample, delay, distractors, probe.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Outputs: match decision at probe.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Produces (x, y, mask) for training ADR.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Delayed-Match-to-Sample (DMS) is a working-memory task: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network sees a </a:t>
            </a:r>
            <a:r>
              <a:rPr i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stimulus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Holds it across a </a:t>
            </a:r>
            <a:r>
              <a:rPr i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 period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receives a </a:t>
            </a:r>
            <a:r>
              <a:rPr i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stimulus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must decide whether it matches the original sample.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task requires the model to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actively maintain information internally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because during the delay there is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input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59">
                <a:latin typeface="Times New Roman"/>
                <a:ea typeface="Times New Roman"/>
                <a:cs typeface="Times New Roman"/>
                <a:sym typeface="Times New Roman"/>
              </a:rPr>
              <a:t>Novelty of the Approach</a:t>
            </a:r>
            <a:endParaRPr sz="2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3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262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First implementation of selective replay in PsychRNN.</a:t>
            </a:r>
            <a:endParaRPr sz="26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262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Not present in GRU, LSTM, or Dale-constrained RNNs.</a:t>
            </a:r>
            <a:endParaRPr sz="26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262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Enables interpretable, biologically plausible mechanisms.</a:t>
            </a:r>
            <a:endParaRPr sz="26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43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</a:t>
            </a:r>
            <a:endParaRPr/>
          </a:p>
        </p:txBody>
      </p:sp>
      <p:sp>
        <p:nvSpPr>
          <p:cNvPr id="290" name="Google Shape;290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1" name="Google Shape;291;p4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2" cy="388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8" name="Google Shape;298;p4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675" y="1017725"/>
            <a:ext cx="6220849" cy="335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359">
                <a:latin typeface="Times New Roman"/>
                <a:ea typeface="Times New Roman"/>
                <a:cs typeface="Times New Roman"/>
                <a:sym typeface="Times New Roman"/>
              </a:rPr>
              <a:t>Key Results</a:t>
            </a:r>
            <a:endParaRPr sz="19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stages: perfect accuracy.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Long-delay stages: sparse replay emerges.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decoder accuracy = 1.0.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Replay ablation → accuracy collapses to 0.5.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novelty gate p(t) works:It correctly reduces rehearsal when stimuli become predictable.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decode = 1.0 even when accuracy fluctuates →The information is stored, but readout becomes harder.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59"/>
              <a:t>Interpretation</a:t>
            </a:r>
            <a:endParaRPr sz="2020"/>
          </a:p>
        </p:txBody>
      </p:sp>
      <p:sp>
        <p:nvSpPr>
          <p:cNvPr id="310" name="Google Shape;310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ADR learns when replay is useful.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Balances accuracy vs. replay effort.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Mirrors hippocampal reinstatement behavior.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Reveals structured neural trajectories in PCA.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Ablation Results</a:t>
            </a:r>
            <a:endParaRPr/>
          </a:p>
        </p:txBody>
      </p:sp>
      <p:sp>
        <p:nvSpPr>
          <p:cNvPr id="316" name="Google Shape;316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Tested the model with λ_rehe = 1.0 (forcing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rehearsal):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became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chance level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(0.50).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rehearsing every time destroys stored information just like overwriting RAM every step.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Interpretation:</a:t>
            </a:r>
            <a:b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Rehearsal must be selective the novelty gate is essential.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When novelty is removed, the memory collapses.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the central novelty-driven working memory principle.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Ablation Studies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Trying different number of epochs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Overfitting after 1e4 epochs.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Trying different hidden layers, hidden dimensions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oldilocks zone around 128.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Getting too heavy or too light models otherwise.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3700" y="868338"/>
            <a:ext cx="6056578" cy="340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References: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Li, P., et al. (2023). </a:t>
            </a:r>
            <a:r>
              <a:rPr i="1" lang="en" sz="1200">
                <a:solidFill>
                  <a:schemeClr val="dk1"/>
                </a:solidFill>
              </a:rPr>
              <a:t>Learning Better with Dale’s Law: A Spectral Perspective</a:t>
            </a:r>
            <a:r>
              <a:rPr lang="en" sz="1200">
                <a:solidFill>
                  <a:schemeClr val="dk1"/>
                </a:solidFill>
              </a:rPr>
              <a:t>. NeurIPS.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van den Berg, A. R., et al. (2024). </a:t>
            </a:r>
            <a:r>
              <a:rPr i="1" lang="en" sz="1200">
                <a:solidFill>
                  <a:schemeClr val="dk1"/>
                </a:solidFill>
              </a:rPr>
              <a:t>Biologically Plausible Gated Recurrent Networks</a:t>
            </a:r>
            <a:r>
              <a:rPr lang="en" sz="1200">
                <a:solidFill>
                  <a:schemeClr val="dk1"/>
                </a:solidFill>
              </a:rPr>
              <a:t>. Nature Communications.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Sadeh, S., et al. (2021). </a:t>
            </a:r>
            <a:r>
              <a:rPr i="1" lang="en" sz="1200">
                <a:solidFill>
                  <a:schemeClr val="dk1"/>
                </a:solidFill>
              </a:rPr>
              <a:t>Excitatory–Inhibitory Balance and Assembly Dynamics in Cortex</a:t>
            </a:r>
            <a:r>
              <a:rPr lang="en" sz="1200">
                <a:solidFill>
                  <a:schemeClr val="dk1"/>
                </a:solidFill>
              </a:rPr>
              <a:t>. Science Advances.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Lam, N. H., et al. (2022). </a:t>
            </a:r>
            <a:r>
              <a:rPr i="1" lang="en" sz="1200">
                <a:solidFill>
                  <a:schemeClr val="dk1"/>
                </a:solidFill>
              </a:rPr>
              <a:t>E/I Balance and Decision-Making in Cortical Circuits</a:t>
            </a:r>
            <a:r>
              <a:rPr lang="en" sz="1200">
                <a:solidFill>
                  <a:schemeClr val="dk1"/>
                </a:solidFill>
              </a:rPr>
              <a:t>. Journal of Neuroscience.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Mastrogiuseppe, F., &amp; Ostojic, S. (2018). </a:t>
            </a:r>
            <a:r>
              <a:rPr i="1" lang="en" sz="1200">
                <a:solidFill>
                  <a:schemeClr val="dk1"/>
                </a:solidFill>
              </a:rPr>
              <a:t>Linking Connectivity, Dynamics and Computations in Low-Rank RNNs</a:t>
            </a:r>
            <a:r>
              <a:rPr lang="en" sz="1200">
                <a:solidFill>
                  <a:schemeClr val="dk1"/>
                </a:solidFill>
              </a:rPr>
              <a:t>. Neuron.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